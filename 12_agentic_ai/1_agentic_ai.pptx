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0"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2352343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0912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143F91-6580-4799-B12F-E9A17BDE59C3}"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1388034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143F91-6580-4799-B12F-E9A17BDE59C3}"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467446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143F91-6580-4799-B12F-E9A17BDE59C3}"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64969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143F91-6580-4799-B12F-E9A17BDE59C3}"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208559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143F91-6580-4799-B12F-E9A17BDE59C3}"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142023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143F91-6580-4799-B12F-E9A17BDE59C3}"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1299650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143F91-6580-4799-B12F-E9A17BDE59C3}"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960747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914243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72344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43F91-6580-4799-B12F-E9A17BDE59C3}" type="datetimeFigureOut">
              <a:rPr lang="en-US" smtClean="0"/>
              <a:t>11/20/2025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2F730-FC60-4A92-B366-E7A8B5BAAAA4}" type="slidenum">
              <a:rPr lang="en-US" smtClean="0"/>
              <a:t>‹#›</a:t>
            </a:fld>
            <a:endParaRPr lang="en-US"/>
          </a:p>
        </p:txBody>
      </p:sp>
    </p:spTree>
    <p:extLst>
      <p:ext uri="{BB962C8B-B14F-4D97-AF65-F5344CB8AC3E}">
        <p14:creationId xmlns:p14="http://schemas.microsoft.com/office/powerpoint/2010/main" val="940544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loud.google.com/discover/what-are-ai-agents?hl=en" TargetMode="External"/><Relationship Id="rId2" Type="http://schemas.openxmlformats.org/officeDocument/2006/relationships/hyperlink" Target="https://cloud.google.com/discover/what-is-agentic-ai?hl=e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ython.langchain.com/docs/how_to/sql_csv/" TargetMode="External"/><Relationship Id="rId2" Type="http://schemas.openxmlformats.org/officeDocument/2006/relationships/hyperlink" Target="https://python.langchain.com/docs/tutorials/sql_q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a:t>
            </a:r>
            <a:endParaRPr lang="en-US" dirty="0"/>
          </a:p>
        </p:txBody>
      </p:sp>
    </p:spTree>
    <p:extLst>
      <p:ext uri="{BB962C8B-B14F-4D97-AF65-F5344CB8AC3E}">
        <p14:creationId xmlns:p14="http://schemas.microsoft.com/office/powerpoint/2010/main" val="493120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a:t>
            </a:r>
            <a:endParaRPr lang="en-US" dirty="0"/>
          </a:p>
        </p:txBody>
      </p:sp>
      <p:sp>
        <p:nvSpPr>
          <p:cNvPr id="3" name="Content Placeholder 2"/>
          <p:cNvSpPr>
            <a:spLocks noGrp="1"/>
          </p:cNvSpPr>
          <p:nvPr>
            <p:ph idx="1"/>
          </p:nvPr>
        </p:nvSpPr>
        <p:spPr/>
        <p:txBody>
          <a:bodyPr>
            <a:normAutofit fontScale="92500" lnSpcReduction="20000"/>
          </a:bodyPr>
          <a:lstStyle/>
          <a:p>
            <a:r>
              <a:rPr lang="en-US" dirty="0"/>
              <a:t>Agentic AI represents a significant evolution in artificial intelligence, where </a:t>
            </a:r>
            <a:r>
              <a:rPr lang="en-US" b="1" dirty="0"/>
              <a:t>systems are designed to operate </a:t>
            </a:r>
            <a:r>
              <a:rPr lang="en-US" b="1" dirty="0">
                <a:solidFill>
                  <a:srgbClr val="FF0000"/>
                </a:solidFill>
              </a:rPr>
              <a:t>autonomously</a:t>
            </a:r>
            <a:r>
              <a:rPr lang="en-US" b="1" dirty="0"/>
              <a:t> with minimal human intervention</a:t>
            </a:r>
            <a:r>
              <a:rPr lang="en-US" dirty="0"/>
              <a:t>. </a:t>
            </a:r>
            <a:endParaRPr lang="en-US" dirty="0" smtClean="0"/>
          </a:p>
          <a:p>
            <a:r>
              <a:rPr lang="en-US" dirty="0" smtClean="0"/>
              <a:t>Unlike </a:t>
            </a:r>
            <a:r>
              <a:rPr lang="en-US" b="1" dirty="0"/>
              <a:t>conventional AI models that primarily generate responses or execute tasks in a reactive manner based on direct inputs</a:t>
            </a:r>
            <a:r>
              <a:rPr lang="en-US" dirty="0"/>
              <a:t>, </a:t>
            </a:r>
            <a:r>
              <a:rPr lang="en-US" b="1" dirty="0"/>
              <a:t>agentic AI is built with the ability to set goals, plan strategies, make decisions, and take actions to achieve desired outcomes</a:t>
            </a:r>
            <a:r>
              <a:rPr lang="en-US" dirty="0"/>
              <a:t>. </a:t>
            </a:r>
            <a:endParaRPr lang="en-US" dirty="0" smtClean="0"/>
          </a:p>
          <a:p>
            <a:r>
              <a:rPr lang="en-US" dirty="0" smtClean="0"/>
              <a:t>These </a:t>
            </a:r>
            <a:r>
              <a:rPr lang="en-US" dirty="0"/>
              <a:t>systems exhibit qualities such as </a:t>
            </a:r>
            <a:r>
              <a:rPr lang="en-US" b="1" dirty="0"/>
              <a:t>self-direction, adaptability, and problem-solving</a:t>
            </a:r>
            <a:r>
              <a:rPr lang="en-US" dirty="0"/>
              <a:t>, enabling them to handle </a:t>
            </a:r>
            <a:r>
              <a:rPr lang="en-US" b="1" dirty="0"/>
              <a:t>complex, multi-step tasks </a:t>
            </a:r>
            <a:r>
              <a:rPr lang="en-US" dirty="0"/>
              <a:t>efficiently. </a:t>
            </a:r>
            <a:endParaRPr lang="en-US" dirty="0" smtClean="0"/>
          </a:p>
          <a:p>
            <a:r>
              <a:rPr lang="en-US" dirty="0" smtClean="0"/>
              <a:t>Agentic </a:t>
            </a:r>
            <a:r>
              <a:rPr lang="en-US" dirty="0"/>
              <a:t>AI often integrates </a:t>
            </a:r>
            <a:r>
              <a:rPr lang="en-US" b="1" dirty="0"/>
              <a:t>reasoning, memory, and iterative learning </a:t>
            </a:r>
            <a:r>
              <a:rPr lang="en-US" dirty="0"/>
              <a:t>to refine its approach over time, making it capable of adjusting to dynamic environments. </a:t>
            </a:r>
            <a:endParaRPr lang="en-US" dirty="0" smtClean="0"/>
          </a:p>
        </p:txBody>
      </p:sp>
    </p:spTree>
    <p:extLst>
      <p:ext uri="{BB962C8B-B14F-4D97-AF65-F5344CB8AC3E}">
        <p14:creationId xmlns:p14="http://schemas.microsoft.com/office/powerpoint/2010/main" val="894573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 and Generative AI</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Agentic AI </a:t>
            </a:r>
            <a:r>
              <a:rPr lang="en-US" dirty="0"/>
              <a:t>and </a:t>
            </a:r>
            <a:r>
              <a:rPr lang="en-US" b="1" dirty="0"/>
              <a:t>generative </a:t>
            </a:r>
            <a:r>
              <a:rPr lang="en-US" b="1" dirty="0" smtClean="0"/>
              <a:t>AI </a:t>
            </a:r>
            <a:r>
              <a:rPr lang="en-US" b="1" dirty="0"/>
              <a:t>serve different but increasingly integrated roles </a:t>
            </a:r>
            <a:r>
              <a:rPr lang="en-US" dirty="0"/>
              <a:t>in artificial intelligence. </a:t>
            </a:r>
            <a:endParaRPr lang="en-US" dirty="0" smtClean="0"/>
          </a:p>
          <a:p>
            <a:r>
              <a:rPr lang="en-US" b="1" dirty="0" smtClean="0"/>
              <a:t>Generative </a:t>
            </a:r>
            <a:r>
              <a:rPr lang="en-US" b="1" dirty="0"/>
              <a:t>AI </a:t>
            </a:r>
            <a:r>
              <a:rPr lang="en-US" dirty="0"/>
              <a:t>specializes in </a:t>
            </a:r>
            <a:r>
              <a:rPr lang="en-US" b="1" dirty="0"/>
              <a:t>producing content—text, images, code, </a:t>
            </a:r>
            <a:r>
              <a:rPr lang="en-US" b="1" dirty="0" smtClean="0"/>
              <a:t>audio, or video</a:t>
            </a:r>
            <a:r>
              <a:rPr lang="en-US" dirty="0" smtClean="0"/>
              <a:t>—based </a:t>
            </a:r>
            <a:r>
              <a:rPr lang="en-US" dirty="0"/>
              <a:t>on patterns learned from vast datasets, excelling at tasks like answering questions, generating creative writing, or summarizing information. </a:t>
            </a:r>
            <a:endParaRPr lang="en-US" dirty="0" smtClean="0"/>
          </a:p>
          <a:p>
            <a:r>
              <a:rPr lang="en-US" dirty="0" smtClean="0"/>
              <a:t>However</a:t>
            </a:r>
            <a:r>
              <a:rPr lang="en-US" dirty="0"/>
              <a:t>, </a:t>
            </a:r>
            <a:r>
              <a:rPr lang="en-US" b="1" dirty="0"/>
              <a:t>generative AI typically operates </a:t>
            </a:r>
            <a:r>
              <a:rPr lang="en-US" b="1" dirty="0">
                <a:solidFill>
                  <a:srgbClr val="FF0000"/>
                </a:solidFill>
              </a:rPr>
              <a:t>reactively</a:t>
            </a:r>
            <a:r>
              <a:rPr lang="en-US" dirty="0"/>
              <a:t>, </a:t>
            </a:r>
            <a:r>
              <a:rPr lang="en-US" b="1" dirty="0"/>
              <a:t>responding to prompts without </a:t>
            </a:r>
            <a:r>
              <a:rPr lang="en-US" b="1" dirty="0">
                <a:solidFill>
                  <a:srgbClr val="FF0000"/>
                </a:solidFill>
              </a:rPr>
              <a:t>autonomous goal-setting </a:t>
            </a:r>
            <a:r>
              <a:rPr lang="en-US" b="1" dirty="0"/>
              <a:t>or long-term planning</a:t>
            </a:r>
            <a:r>
              <a:rPr lang="en-US" dirty="0"/>
              <a:t>. </a:t>
            </a:r>
            <a:endParaRPr lang="en-US" dirty="0" smtClean="0"/>
          </a:p>
          <a:p>
            <a:r>
              <a:rPr lang="en-US" b="1" dirty="0"/>
              <a:t>G</a:t>
            </a:r>
            <a:r>
              <a:rPr lang="en-US" b="1" dirty="0" smtClean="0"/>
              <a:t>enerative AI lacks </a:t>
            </a:r>
            <a:r>
              <a:rPr lang="en-US" b="1" dirty="0"/>
              <a:t>the ability to independently structure its </a:t>
            </a:r>
            <a:r>
              <a:rPr lang="en-US" b="1" dirty="0">
                <a:solidFill>
                  <a:srgbClr val="FF0000"/>
                </a:solidFill>
              </a:rPr>
              <a:t>workflow</a:t>
            </a:r>
            <a:r>
              <a:rPr lang="en-US" dirty="0"/>
              <a:t>, </a:t>
            </a:r>
            <a:r>
              <a:rPr lang="en-US" b="1" dirty="0"/>
              <a:t>prioritize tasks, or </a:t>
            </a:r>
            <a:r>
              <a:rPr lang="en-US" b="1" i="1" dirty="0"/>
              <a:t>take actions </a:t>
            </a:r>
            <a:r>
              <a:rPr lang="en-US" b="1" dirty="0"/>
              <a:t>beyond producing outputs</a:t>
            </a:r>
            <a:r>
              <a:rPr lang="en-US" dirty="0"/>
              <a:t>. </a:t>
            </a:r>
            <a:endParaRPr lang="en-US" dirty="0" smtClean="0"/>
          </a:p>
          <a:p>
            <a:r>
              <a:rPr lang="en-US" dirty="0" smtClean="0"/>
              <a:t>In </a:t>
            </a:r>
            <a:r>
              <a:rPr lang="en-US" dirty="0"/>
              <a:t>contrast, </a:t>
            </a:r>
            <a:r>
              <a:rPr lang="en-US" b="1" dirty="0"/>
              <a:t>agentic AI is designed to act </a:t>
            </a:r>
            <a:r>
              <a:rPr lang="en-US" b="1" dirty="0">
                <a:solidFill>
                  <a:srgbClr val="FF0000"/>
                </a:solidFill>
              </a:rPr>
              <a:t>autonomously</a:t>
            </a:r>
            <a:r>
              <a:rPr lang="en-US" dirty="0"/>
              <a:t>, </a:t>
            </a:r>
            <a:r>
              <a:rPr lang="en-US" b="1" dirty="0"/>
              <a:t>making decisions, planning tasks, and executing multi-step actions to achieve objectives </a:t>
            </a:r>
            <a:r>
              <a:rPr lang="en-US" dirty="0"/>
              <a:t>without constant human input. </a:t>
            </a:r>
            <a:endParaRPr lang="en-US" dirty="0" smtClean="0"/>
          </a:p>
          <a:p>
            <a:r>
              <a:rPr lang="en-US" dirty="0" smtClean="0"/>
              <a:t>The </a:t>
            </a:r>
            <a:r>
              <a:rPr lang="en-US" b="1" dirty="0"/>
              <a:t>integration</a:t>
            </a:r>
            <a:r>
              <a:rPr lang="en-US" dirty="0"/>
              <a:t> of these two fields has led to more advanced AI agents that leverage generative AI’s language capabilities while incorporating reasoning, memory, and execution mechanisms to operate autonomously. </a:t>
            </a:r>
          </a:p>
        </p:txBody>
      </p:sp>
    </p:spTree>
    <p:extLst>
      <p:ext uri="{BB962C8B-B14F-4D97-AF65-F5344CB8AC3E}">
        <p14:creationId xmlns:p14="http://schemas.microsoft.com/office/powerpoint/2010/main" val="20805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 and Generative AI</a:t>
            </a:r>
            <a:endParaRPr lang="en-US" dirty="0"/>
          </a:p>
        </p:txBody>
      </p:sp>
      <p:sp>
        <p:nvSpPr>
          <p:cNvPr id="3" name="Content Placeholder 2"/>
          <p:cNvSpPr>
            <a:spLocks noGrp="1"/>
          </p:cNvSpPr>
          <p:nvPr>
            <p:ph idx="1"/>
          </p:nvPr>
        </p:nvSpPr>
        <p:spPr/>
        <p:txBody>
          <a:bodyPr>
            <a:normAutofit fontScale="85000" lnSpcReduction="20000"/>
          </a:bodyPr>
          <a:lstStyle/>
          <a:p>
            <a:r>
              <a:rPr lang="en-US" dirty="0"/>
              <a:t>One of the fundamental </a:t>
            </a:r>
            <a:r>
              <a:rPr lang="en-US" b="1" dirty="0"/>
              <a:t>distinctions between AI agents and generative AI </a:t>
            </a:r>
            <a:r>
              <a:rPr lang="en-US" dirty="0"/>
              <a:t>is the </a:t>
            </a:r>
            <a:r>
              <a:rPr lang="en-US" b="1" dirty="0"/>
              <a:t>ability of agents to </a:t>
            </a:r>
            <a:r>
              <a:rPr lang="en-US" b="1" dirty="0">
                <a:solidFill>
                  <a:srgbClr val="FF0000"/>
                </a:solidFill>
              </a:rPr>
              <a:t>interact dynamically with their environment</a:t>
            </a:r>
            <a:r>
              <a:rPr lang="en-US" dirty="0"/>
              <a:t>, a capability that generative AI lacks. </a:t>
            </a:r>
            <a:endParaRPr lang="en-US" dirty="0" smtClean="0"/>
          </a:p>
          <a:p>
            <a:r>
              <a:rPr lang="en-US" b="1" dirty="0"/>
              <a:t>G</a:t>
            </a:r>
            <a:r>
              <a:rPr lang="en-US" b="1" dirty="0" smtClean="0"/>
              <a:t>enerative </a:t>
            </a:r>
            <a:r>
              <a:rPr lang="en-US" b="1" dirty="0"/>
              <a:t>AI models, such as GPT, can generate text-based responses</a:t>
            </a:r>
            <a:r>
              <a:rPr lang="en-US" dirty="0"/>
              <a:t>, </a:t>
            </a:r>
            <a:r>
              <a:rPr lang="en-US" b="1" dirty="0"/>
              <a:t>they do so in a static manner, reacting to input prompts without any real-world awareness or capacity to take action </a:t>
            </a:r>
            <a:r>
              <a:rPr lang="en-US" dirty="0"/>
              <a:t>beyond generating outputs. </a:t>
            </a:r>
            <a:endParaRPr lang="en-US" dirty="0" smtClean="0"/>
          </a:p>
          <a:p>
            <a:r>
              <a:rPr lang="en-US" b="1" dirty="0" smtClean="0"/>
              <a:t>AI </a:t>
            </a:r>
            <a:r>
              <a:rPr lang="en-US" b="1" dirty="0"/>
              <a:t>agents are designed to perceive, analyze, and engage with their environment</a:t>
            </a:r>
            <a:r>
              <a:rPr lang="en-US" dirty="0"/>
              <a:t>, whether digital or physical. </a:t>
            </a:r>
            <a:endParaRPr lang="en-US" dirty="0" smtClean="0"/>
          </a:p>
          <a:p>
            <a:r>
              <a:rPr lang="en-US" dirty="0" smtClean="0"/>
              <a:t>They </a:t>
            </a:r>
            <a:r>
              <a:rPr lang="en-US" dirty="0"/>
              <a:t>can </a:t>
            </a:r>
            <a:r>
              <a:rPr lang="en-US" b="1" dirty="0"/>
              <a:t>take actions, adapt to changes, and continuously refine their strategies based on feedback. </a:t>
            </a:r>
            <a:endParaRPr lang="en-US" b="1" dirty="0" smtClean="0"/>
          </a:p>
          <a:p>
            <a:pPr marL="457200" lvl="1" indent="0">
              <a:buNone/>
            </a:pPr>
            <a:r>
              <a:rPr lang="en-US" i="1" dirty="0"/>
              <a:t>A</a:t>
            </a:r>
            <a:r>
              <a:rPr lang="en-US" i="1" dirty="0" smtClean="0"/>
              <a:t>n </a:t>
            </a:r>
            <a:r>
              <a:rPr lang="en-US" i="1" dirty="0"/>
              <a:t>AI agent controlling a robotic arm in a manufacturing plant can sense obstacles, adjust its movements, and optimize performance in real time, whereas a generative AI model can only provide textual suggestions on how to perform the task. This interactive capability enables AI agents to operate autonomously in complex and unpredictable environments, making them indispensable in robotics, autonomous vehicles, smart systems, and real-world automation.</a:t>
            </a:r>
          </a:p>
        </p:txBody>
      </p:sp>
    </p:spTree>
    <p:extLst>
      <p:ext uri="{BB962C8B-B14F-4D97-AF65-F5344CB8AC3E}">
        <p14:creationId xmlns:p14="http://schemas.microsoft.com/office/powerpoint/2010/main" val="279593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Agents</a:t>
            </a:r>
            <a:endParaRPr lang="en-US" dirty="0"/>
          </a:p>
        </p:txBody>
      </p:sp>
      <p:sp>
        <p:nvSpPr>
          <p:cNvPr id="3" name="Content Placeholder 2"/>
          <p:cNvSpPr>
            <a:spLocks noGrp="1"/>
          </p:cNvSpPr>
          <p:nvPr>
            <p:ph idx="1"/>
          </p:nvPr>
        </p:nvSpPr>
        <p:spPr/>
        <p:txBody>
          <a:bodyPr>
            <a:normAutofit/>
          </a:bodyPr>
          <a:lstStyle/>
          <a:p>
            <a:r>
              <a:rPr lang="en-US" b="1" dirty="0"/>
              <a:t>AI agents are software or robotic entities that perform tasks with a degree of autonomy, often interacting with users, systems, or other agents to accomplish objectives</a:t>
            </a:r>
            <a:r>
              <a:rPr lang="en-US" dirty="0"/>
              <a:t>. </a:t>
            </a:r>
            <a:endParaRPr lang="en-US" dirty="0" smtClean="0"/>
          </a:p>
          <a:p>
            <a:r>
              <a:rPr lang="en-US" dirty="0" smtClean="0"/>
              <a:t>These </a:t>
            </a:r>
            <a:r>
              <a:rPr lang="en-US" b="1" dirty="0"/>
              <a:t>agents can perceive their environment, process information, and make decisions to achieve a desired outcome</a:t>
            </a:r>
            <a:r>
              <a:rPr lang="en-US" dirty="0"/>
              <a:t>. </a:t>
            </a:r>
            <a:endParaRPr lang="en-US" dirty="0" smtClean="0"/>
          </a:p>
        </p:txBody>
      </p:sp>
    </p:spTree>
    <p:extLst>
      <p:ext uri="{BB962C8B-B14F-4D97-AF65-F5344CB8AC3E}">
        <p14:creationId xmlns:p14="http://schemas.microsoft.com/office/powerpoint/2010/main" val="2495718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AI Agents</a:t>
            </a:r>
            <a:endParaRPr lang="en-US" dirty="0"/>
          </a:p>
        </p:txBody>
      </p:sp>
      <p:sp>
        <p:nvSpPr>
          <p:cNvPr id="3" name="Content Placeholder 2"/>
          <p:cNvSpPr>
            <a:spLocks noGrp="1"/>
          </p:cNvSpPr>
          <p:nvPr>
            <p:ph idx="1"/>
          </p:nvPr>
        </p:nvSpPr>
        <p:spPr/>
        <p:txBody>
          <a:bodyPr/>
          <a:lstStyle/>
          <a:p>
            <a:r>
              <a:rPr lang="en-US" dirty="0"/>
              <a:t>The simplest type is </a:t>
            </a:r>
            <a:r>
              <a:rPr lang="en-US" b="1" dirty="0"/>
              <a:t>reactive agents</a:t>
            </a:r>
            <a:r>
              <a:rPr lang="en-US" dirty="0"/>
              <a:t>, which </a:t>
            </a:r>
            <a:r>
              <a:rPr lang="en-US" b="1" dirty="0"/>
              <a:t>only respond to immediate inputs without memory or learning</a:t>
            </a:r>
            <a:r>
              <a:rPr lang="en-US" dirty="0"/>
              <a:t>. They </a:t>
            </a:r>
            <a:r>
              <a:rPr lang="en-US" b="1" dirty="0"/>
              <a:t>work based on pre-set rules and do not consider past experiences</a:t>
            </a:r>
            <a:r>
              <a:rPr lang="en-US" dirty="0"/>
              <a:t>. </a:t>
            </a:r>
            <a:r>
              <a:rPr lang="en-US" b="1" dirty="0"/>
              <a:t>A good example is a thermostat, which turns the heater on or off depending on the current temperature</a:t>
            </a:r>
            <a:r>
              <a:rPr lang="en-US" dirty="0"/>
              <a:t>. These agents are </a:t>
            </a:r>
            <a:r>
              <a:rPr lang="en-US" b="1" dirty="0"/>
              <a:t>fast and reliable </a:t>
            </a:r>
            <a:r>
              <a:rPr lang="en-US" dirty="0"/>
              <a:t>for </a:t>
            </a:r>
            <a:r>
              <a:rPr lang="en-US" b="1" dirty="0"/>
              <a:t>straightforward tasks but cannot plan ahead </a:t>
            </a:r>
            <a:r>
              <a:rPr lang="en-US" dirty="0"/>
              <a:t>or adapt to new situations.</a:t>
            </a:r>
          </a:p>
        </p:txBody>
      </p:sp>
    </p:spTree>
    <p:extLst>
      <p:ext uri="{BB962C8B-B14F-4D97-AF65-F5344CB8AC3E}">
        <p14:creationId xmlns:p14="http://schemas.microsoft.com/office/powerpoint/2010/main" val="217043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AI Agents</a:t>
            </a:r>
            <a:endParaRPr lang="en-US" dirty="0"/>
          </a:p>
        </p:txBody>
      </p:sp>
      <p:sp>
        <p:nvSpPr>
          <p:cNvPr id="3" name="Content Placeholder 2"/>
          <p:cNvSpPr>
            <a:spLocks noGrp="1"/>
          </p:cNvSpPr>
          <p:nvPr>
            <p:ph idx="1"/>
          </p:nvPr>
        </p:nvSpPr>
        <p:spPr/>
        <p:txBody>
          <a:bodyPr>
            <a:normAutofit/>
          </a:bodyPr>
          <a:lstStyle/>
          <a:p>
            <a:r>
              <a:rPr lang="en-US" b="1" dirty="0"/>
              <a:t>M</a:t>
            </a:r>
            <a:r>
              <a:rPr lang="en-US" b="1" dirty="0" smtClean="0"/>
              <a:t>odel-based agents </a:t>
            </a:r>
            <a:r>
              <a:rPr lang="en-US" dirty="0" smtClean="0"/>
              <a:t>have </a:t>
            </a:r>
            <a:r>
              <a:rPr lang="en-US" dirty="0"/>
              <a:t>a basic understanding of their environment and can make better decisions by considering past interactions. </a:t>
            </a:r>
            <a:r>
              <a:rPr lang="en-US" dirty="0" smtClean="0"/>
              <a:t>They </a:t>
            </a:r>
            <a:r>
              <a:rPr lang="en-US" dirty="0"/>
              <a:t>maintain a simple internal model of how things work and use that </a:t>
            </a:r>
            <a:r>
              <a:rPr lang="en-US" dirty="0" smtClean="0"/>
              <a:t>knowledge </a:t>
            </a:r>
            <a:r>
              <a:rPr lang="en-US" dirty="0"/>
              <a:t>to respond more intelligently. </a:t>
            </a:r>
            <a:endParaRPr lang="en-US" dirty="0" smtClean="0"/>
          </a:p>
          <a:p>
            <a:r>
              <a:rPr lang="en-US" dirty="0"/>
              <a:t> </a:t>
            </a:r>
            <a:r>
              <a:rPr lang="en-US" b="1" dirty="0" smtClean="0"/>
              <a:t>Goal-based agents</a:t>
            </a:r>
            <a:r>
              <a:rPr lang="en-US" dirty="0" smtClean="0"/>
              <a:t> </a:t>
            </a:r>
            <a:r>
              <a:rPr lang="en-US" dirty="0"/>
              <a:t>not only </a:t>
            </a:r>
            <a:r>
              <a:rPr lang="en-US" b="1" dirty="0"/>
              <a:t>react to situations but also actively work towards achieving specific goals</a:t>
            </a:r>
            <a:r>
              <a:rPr lang="en-US" dirty="0"/>
              <a:t>. They </a:t>
            </a:r>
            <a:r>
              <a:rPr lang="en-US" b="1" dirty="0"/>
              <a:t>evaluate different possible actions and choose the one that brings them closer to their objective</a:t>
            </a:r>
            <a:r>
              <a:rPr lang="en-US" dirty="0"/>
              <a:t>. </a:t>
            </a:r>
          </a:p>
        </p:txBody>
      </p:sp>
    </p:spTree>
    <p:extLst>
      <p:ext uri="{BB962C8B-B14F-4D97-AF65-F5344CB8AC3E}">
        <p14:creationId xmlns:p14="http://schemas.microsoft.com/office/powerpoint/2010/main" val="3711472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 – Supplementary information</a:t>
            </a:r>
            <a:endParaRPr lang="en-US" dirty="0"/>
          </a:p>
        </p:txBody>
      </p:sp>
      <p:sp>
        <p:nvSpPr>
          <p:cNvPr id="3" name="Content Placeholder 2"/>
          <p:cNvSpPr>
            <a:spLocks noGrp="1"/>
          </p:cNvSpPr>
          <p:nvPr>
            <p:ph idx="1"/>
          </p:nvPr>
        </p:nvSpPr>
        <p:spPr/>
        <p:txBody>
          <a:bodyPr/>
          <a:lstStyle/>
          <a:p>
            <a:r>
              <a:rPr lang="en-US" dirty="0" smtClean="0"/>
              <a:t>For supplementary information – check this blog from </a:t>
            </a:r>
            <a:r>
              <a:rPr lang="en-US" b="1" dirty="0"/>
              <a:t>G</a:t>
            </a:r>
            <a:r>
              <a:rPr lang="en-US" b="1" dirty="0" smtClean="0"/>
              <a:t>oogle</a:t>
            </a:r>
            <a:r>
              <a:rPr lang="en-US" dirty="0" smtClean="0"/>
              <a:t>: </a:t>
            </a:r>
            <a:r>
              <a:rPr lang="en-US" dirty="0" smtClean="0">
                <a:hlinkClick r:id="rId2"/>
              </a:rPr>
              <a:t>https://cloud.google.com/discover/what-is-agentic-ai?hl=en</a:t>
            </a:r>
            <a:endParaRPr lang="en-US" dirty="0" smtClean="0"/>
          </a:p>
          <a:p>
            <a:r>
              <a:rPr lang="en-US" dirty="0" smtClean="0"/>
              <a:t>Also, do check </a:t>
            </a:r>
            <a:r>
              <a:rPr lang="en-US" smtClean="0"/>
              <a:t>this blog too: </a:t>
            </a:r>
            <a:r>
              <a:rPr lang="en-US" smtClean="0">
                <a:hlinkClick r:id="rId3"/>
              </a:rPr>
              <a:t>https://cloud.google.com/discover/what-are-ai-agents?hl=en</a:t>
            </a:r>
            <a:endParaRPr lang="en-US" smtClean="0"/>
          </a:p>
          <a:p>
            <a:endParaRPr lang="en-US" dirty="0" smtClean="0"/>
          </a:p>
          <a:p>
            <a:endParaRPr lang="en-US" dirty="0"/>
          </a:p>
        </p:txBody>
      </p:sp>
    </p:spTree>
    <p:extLst>
      <p:ext uri="{BB962C8B-B14F-4D97-AF65-F5344CB8AC3E}">
        <p14:creationId xmlns:p14="http://schemas.microsoft.com/office/powerpoint/2010/main" val="400393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Calling</a:t>
            </a:r>
            <a:endParaRPr lang="en-US" dirty="0"/>
          </a:p>
        </p:txBody>
      </p:sp>
      <p:sp>
        <p:nvSpPr>
          <p:cNvPr id="3" name="Content Placeholder 2"/>
          <p:cNvSpPr>
            <a:spLocks noGrp="1"/>
          </p:cNvSpPr>
          <p:nvPr>
            <p:ph idx="1"/>
          </p:nvPr>
        </p:nvSpPr>
        <p:spPr/>
        <p:txBody>
          <a:bodyPr>
            <a:normAutofit fontScale="70000" lnSpcReduction="20000"/>
          </a:bodyPr>
          <a:lstStyle/>
          <a:p>
            <a:r>
              <a:rPr lang="en-US" dirty="0"/>
              <a:t>Function calling </a:t>
            </a:r>
            <a:r>
              <a:rPr lang="en-US" dirty="0" smtClean="0"/>
              <a:t>refers </a:t>
            </a:r>
            <a:r>
              <a:rPr lang="en-US" dirty="0"/>
              <a:t>to the process where an </a:t>
            </a:r>
            <a:r>
              <a:rPr lang="en-US" b="1" dirty="0"/>
              <a:t>AI system identifies the need to execute a specific function and provides structured input parameters to trigger that function</a:t>
            </a:r>
            <a:r>
              <a:rPr lang="en-US" dirty="0"/>
              <a:t>. </a:t>
            </a:r>
            <a:endParaRPr lang="en-US" dirty="0" smtClean="0"/>
          </a:p>
          <a:p>
            <a:r>
              <a:rPr lang="en-US" dirty="0" smtClean="0"/>
              <a:t>This </a:t>
            </a:r>
            <a:r>
              <a:rPr lang="en-US" b="1" dirty="0"/>
              <a:t>allows AI models to go beyond static text generation and actively interact with systems</a:t>
            </a:r>
            <a:r>
              <a:rPr lang="en-US" dirty="0"/>
              <a:t>, </a:t>
            </a:r>
            <a:r>
              <a:rPr lang="en-US" b="1" dirty="0"/>
              <a:t>retrieve information, and perform actions</a:t>
            </a:r>
            <a:r>
              <a:rPr lang="en-US" dirty="0"/>
              <a:t>. </a:t>
            </a:r>
            <a:endParaRPr lang="en-US" dirty="0" smtClean="0"/>
          </a:p>
          <a:p>
            <a:r>
              <a:rPr lang="en-US" dirty="0" smtClean="0"/>
              <a:t>Instead </a:t>
            </a:r>
            <a:r>
              <a:rPr lang="en-US" dirty="0"/>
              <a:t>of merely responding with predictions based on training data, </a:t>
            </a:r>
            <a:r>
              <a:rPr lang="en-US" b="1" dirty="0"/>
              <a:t>function calling enables AI to make real-time decisions, access external knowledge sources, and automate tasks dynamically</a:t>
            </a:r>
            <a:r>
              <a:rPr lang="en-US" dirty="0" smtClean="0"/>
              <a:t>.</a:t>
            </a:r>
          </a:p>
          <a:p>
            <a:r>
              <a:rPr lang="en-US" dirty="0" smtClean="0"/>
              <a:t>At </a:t>
            </a:r>
            <a:r>
              <a:rPr lang="en-US" dirty="0"/>
              <a:t>its core, function calling works by allowing an AI model to recognize </a:t>
            </a:r>
            <a:r>
              <a:rPr lang="en-US" b="1" dirty="0"/>
              <a:t>when a particular function is needed based on the user's request</a:t>
            </a:r>
            <a:r>
              <a:rPr lang="en-US" dirty="0"/>
              <a:t>. </a:t>
            </a:r>
            <a:r>
              <a:rPr lang="en-US" b="1" dirty="0"/>
              <a:t>The model then structures its output in a predefined format containing the necessary parameters required for the function to execute correctly.</a:t>
            </a:r>
            <a:r>
              <a:rPr lang="en-US" dirty="0"/>
              <a:t> </a:t>
            </a:r>
            <a:endParaRPr lang="en-US" dirty="0" smtClean="0"/>
          </a:p>
          <a:p>
            <a:r>
              <a:rPr lang="en-US" b="1" dirty="0" smtClean="0"/>
              <a:t>Once </a:t>
            </a:r>
            <a:r>
              <a:rPr lang="en-US" b="1" dirty="0"/>
              <a:t>triggered, the function performs its task</a:t>
            </a:r>
            <a:r>
              <a:rPr lang="en-US" dirty="0"/>
              <a:t>—such as fetching data, making calculations, or updating records—and returns a response that the AI can interpret and present to the user in a meaningful way</a:t>
            </a:r>
            <a:r>
              <a:rPr lang="en-US" dirty="0" smtClean="0"/>
              <a:t>.</a:t>
            </a:r>
          </a:p>
          <a:p>
            <a:pPr marL="0" indent="0">
              <a:buNone/>
            </a:pPr>
            <a:r>
              <a:rPr lang="en-US" i="1" dirty="0" smtClean="0"/>
              <a:t>DO SOME HANDS ON PRACTICE USING GEMINI AND ALSO THE GIVEN NOTEBOOK FOR DATABASE QUERYING IN NATURAL LANGUAGE.</a:t>
            </a:r>
          </a:p>
        </p:txBody>
      </p:sp>
    </p:spTree>
    <p:extLst>
      <p:ext uri="{BB962C8B-B14F-4D97-AF65-F5344CB8AC3E}">
        <p14:creationId xmlns:p14="http://schemas.microsoft.com/office/powerpoint/2010/main" val="3722614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Agents and Tools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An AI agent can be seen as a sophisticated system that integrates </a:t>
            </a:r>
            <a:r>
              <a:rPr lang="en-US" b="1" dirty="0"/>
              <a:t>multiple tools to perform tasks intelligently and autonomously.</a:t>
            </a:r>
            <a:r>
              <a:rPr lang="en-US" dirty="0"/>
              <a:t> </a:t>
            </a:r>
            <a:endParaRPr lang="en-US" dirty="0" smtClean="0"/>
          </a:p>
          <a:p>
            <a:r>
              <a:rPr lang="en-US" b="1" dirty="0" smtClean="0"/>
              <a:t>Instead </a:t>
            </a:r>
            <a:r>
              <a:rPr lang="en-US" b="1" dirty="0"/>
              <a:t>of relying solely on a single model for decision-making, an agent leverages a collection of tools</a:t>
            </a:r>
            <a:r>
              <a:rPr lang="en-US" dirty="0"/>
              <a:t>—such as APIs, databases, reasoning engines, retrieval systems, and automation frameworks—to interact with its environment and execute complex workflows. </a:t>
            </a:r>
            <a:endParaRPr lang="en-US" dirty="0" smtClean="0"/>
          </a:p>
          <a:p>
            <a:r>
              <a:rPr lang="en-US" dirty="0" smtClean="0"/>
              <a:t>By </a:t>
            </a:r>
            <a:r>
              <a:rPr lang="en-US" dirty="0"/>
              <a:t>combining these tools, the a</a:t>
            </a:r>
            <a:r>
              <a:rPr lang="en-US" b="1" dirty="0"/>
              <a:t>gent gains the ability to perceive, process, and act on information dynamically, making it more capable than a standalone AI model</a:t>
            </a:r>
            <a:r>
              <a:rPr lang="en-US" b="1" dirty="0" smtClean="0"/>
              <a:t>.</a:t>
            </a:r>
          </a:p>
          <a:p>
            <a:r>
              <a:rPr lang="en-US" dirty="0" smtClean="0"/>
              <a:t>At </a:t>
            </a:r>
            <a:r>
              <a:rPr lang="en-US" dirty="0"/>
              <a:t>its core, an </a:t>
            </a:r>
            <a:r>
              <a:rPr lang="en-US" b="1" dirty="0"/>
              <a:t>agent functions as an orchestrator that selects and applies the right tools</a:t>
            </a:r>
            <a:r>
              <a:rPr lang="en-US" dirty="0"/>
              <a:t> based on the problem at hand. </a:t>
            </a:r>
            <a:endParaRPr lang="en-US" dirty="0" smtClean="0"/>
          </a:p>
        </p:txBody>
      </p:sp>
    </p:spTree>
    <p:extLst>
      <p:ext uri="{BB962C8B-B14F-4D97-AF65-F5344CB8AC3E}">
        <p14:creationId xmlns:p14="http://schemas.microsoft.com/office/powerpoint/2010/main" val="3832474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b="1" dirty="0" err="1" smtClean="0"/>
              <a:t>Langraph</a:t>
            </a:r>
            <a:endParaRPr lang="en-US" b="1" dirty="0" smtClean="0"/>
          </a:p>
          <a:p>
            <a:r>
              <a:rPr lang="en-US" dirty="0" err="1" smtClean="0"/>
              <a:t>Langraph</a:t>
            </a:r>
            <a:r>
              <a:rPr lang="en-US" dirty="0" smtClean="0"/>
              <a:t> </a:t>
            </a:r>
            <a:r>
              <a:rPr lang="en-US" dirty="0"/>
              <a:t>is an </a:t>
            </a:r>
            <a:r>
              <a:rPr lang="en-US" b="1" dirty="0"/>
              <a:t>open-source framework </a:t>
            </a:r>
            <a:r>
              <a:rPr lang="en-US" dirty="0"/>
              <a:t>designed for building, visualizing, and orchestrating AI workflows using a </a:t>
            </a:r>
            <a:r>
              <a:rPr lang="en-US" b="1" dirty="0"/>
              <a:t>state-driven, graph-based approach</a:t>
            </a:r>
            <a:r>
              <a:rPr lang="en-US" dirty="0"/>
              <a:t>. </a:t>
            </a:r>
            <a:endParaRPr lang="en-US" dirty="0" smtClean="0"/>
          </a:p>
          <a:p>
            <a:r>
              <a:rPr lang="en-US" dirty="0"/>
              <a:t>it is an o</a:t>
            </a:r>
            <a:r>
              <a:rPr lang="en-US" b="1" dirty="0"/>
              <a:t>rchestration framework designed to build </a:t>
            </a:r>
            <a:r>
              <a:rPr lang="en-US" b="1" dirty="0" err="1"/>
              <a:t>stateful</a:t>
            </a:r>
            <a:r>
              <a:rPr lang="en-US" b="1" dirty="0"/>
              <a:t>, multi-actor applications with Large Language Models (LLMs). </a:t>
            </a:r>
            <a:r>
              <a:rPr lang="en-US" dirty="0" err="1" smtClean="0"/>
              <a:t>LangGraph</a:t>
            </a:r>
            <a:r>
              <a:rPr lang="en-US" dirty="0" smtClean="0"/>
              <a:t> </a:t>
            </a:r>
            <a:r>
              <a:rPr lang="en-US" dirty="0"/>
              <a:t>enables the </a:t>
            </a:r>
            <a:r>
              <a:rPr lang="en-US" b="1" dirty="0"/>
              <a:t>creation of complex agentic systems by providing fine-grained control over both the flow and state of applications</a:t>
            </a:r>
            <a:r>
              <a:rPr lang="en-US" dirty="0"/>
              <a:t>.</a:t>
            </a:r>
            <a:endParaRPr lang="en-US" dirty="0" smtClean="0"/>
          </a:p>
          <a:p>
            <a:r>
              <a:rPr lang="en-US" dirty="0" smtClean="0"/>
              <a:t>It </a:t>
            </a:r>
            <a:r>
              <a:rPr lang="en-US" dirty="0"/>
              <a:t>enables developers to create </a:t>
            </a:r>
            <a:r>
              <a:rPr lang="en-US" b="1" dirty="0"/>
              <a:t>structured AI agents by defining explicit states, transitions, and decision paths</a:t>
            </a:r>
            <a:r>
              <a:rPr lang="en-US" dirty="0"/>
              <a:t>, ensuring </a:t>
            </a:r>
            <a:r>
              <a:rPr lang="en-US" b="1" dirty="0"/>
              <a:t>transparency and control </a:t>
            </a:r>
            <a:r>
              <a:rPr lang="en-US" dirty="0"/>
              <a:t>over execution. </a:t>
            </a:r>
            <a:endParaRPr lang="en-US" dirty="0" smtClean="0"/>
          </a:p>
          <a:p>
            <a:r>
              <a:rPr lang="en-US" dirty="0" smtClean="0"/>
              <a:t>It </a:t>
            </a:r>
            <a:r>
              <a:rPr lang="en-US" dirty="0"/>
              <a:t>is particularly useful for applications that </a:t>
            </a:r>
            <a:r>
              <a:rPr lang="en-US" b="1" dirty="0"/>
              <a:t>require structured reasoning</a:t>
            </a:r>
            <a:r>
              <a:rPr lang="en-US" dirty="0"/>
              <a:t>, such as </a:t>
            </a:r>
            <a:r>
              <a:rPr lang="en-US" b="1" dirty="0"/>
              <a:t>customer service bots</a:t>
            </a:r>
            <a:r>
              <a:rPr lang="en-US" dirty="0"/>
              <a:t>, </a:t>
            </a:r>
            <a:r>
              <a:rPr lang="en-US" b="1" dirty="0"/>
              <a:t>RAG-based assistants</a:t>
            </a:r>
            <a:r>
              <a:rPr lang="en-US" dirty="0"/>
              <a:t>, and </a:t>
            </a:r>
            <a:r>
              <a:rPr lang="en-US" b="1" dirty="0"/>
              <a:t>workflow automation tools</a:t>
            </a:r>
            <a:r>
              <a:rPr lang="en-US" dirty="0"/>
              <a:t>. </a:t>
            </a:r>
            <a:endParaRPr lang="en-US" dirty="0" smtClean="0"/>
          </a:p>
        </p:txBody>
      </p:sp>
    </p:spTree>
    <p:extLst>
      <p:ext uri="{BB962C8B-B14F-4D97-AF65-F5344CB8AC3E}">
        <p14:creationId xmlns:p14="http://schemas.microsoft.com/office/powerpoint/2010/main" val="3283944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a:bodyPr>
          <a:lstStyle/>
          <a:p>
            <a:pPr marL="0" indent="0">
              <a:buNone/>
            </a:pPr>
            <a:r>
              <a:rPr lang="en-US" b="1" dirty="0" err="1" smtClean="0"/>
              <a:t>LangSmith</a:t>
            </a:r>
            <a:endParaRPr lang="en-US" b="1" dirty="0" smtClean="0"/>
          </a:p>
          <a:p>
            <a:r>
              <a:rPr lang="en-US" dirty="0" err="1" smtClean="0"/>
              <a:t>Langsmith</a:t>
            </a:r>
            <a:r>
              <a:rPr lang="en-US" dirty="0" smtClean="0"/>
              <a:t> </a:t>
            </a:r>
            <a:r>
              <a:rPr lang="en-US" dirty="0"/>
              <a:t>is a </a:t>
            </a:r>
            <a:r>
              <a:rPr lang="en-US" dirty="0" smtClean="0"/>
              <a:t>tool </a:t>
            </a:r>
            <a:r>
              <a:rPr lang="en-US" dirty="0"/>
              <a:t>for </a:t>
            </a:r>
            <a:r>
              <a:rPr lang="en-US" b="1" dirty="0"/>
              <a:t>evaluating, monitoring, and debugging LLM-based applications</a:t>
            </a:r>
            <a:r>
              <a:rPr lang="en-US" dirty="0"/>
              <a:t>. </a:t>
            </a:r>
            <a:endParaRPr lang="en-US" dirty="0" smtClean="0"/>
          </a:p>
          <a:p>
            <a:r>
              <a:rPr lang="en-US" dirty="0" smtClean="0"/>
              <a:t>It </a:t>
            </a:r>
            <a:r>
              <a:rPr lang="en-US" dirty="0"/>
              <a:t>provides developers with </a:t>
            </a:r>
            <a:r>
              <a:rPr lang="en-US" b="1" dirty="0"/>
              <a:t>insights into how AI models interact with prompts</a:t>
            </a:r>
            <a:r>
              <a:rPr lang="en-US" dirty="0"/>
              <a:t>, enabling them to refine responses and optimize performance. </a:t>
            </a:r>
            <a:endParaRPr lang="en-US" dirty="0" smtClean="0"/>
          </a:p>
        </p:txBody>
      </p:sp>
    </p:spTree>
    <p:extLst>
      <p:ext uri="{BB962C8B-B14F-4D97-AF65-F5344CB8AC3E}">
        <p14:creationId xmlns:p14="http://schemas.microsoft.com/office/powerpoint/2010/main" val="1405567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a:bodyPr>
          <a:lstStyle/>
          <a:p>
            <a:pPr marL="0" indent="0">
              <a:buNone/>
            </a:pPr>
            <a:r>
              <a:rPr lang="en-US" b="1" dirty="0" err="1" smtClean="0"/>
              <a:t>LangServe</a:t>
            </a:r>
            <a:endParaRPr lang="en-US" b="1" dirty="0" smtClean="0"/>
          </a:p>
          <a:p>
            <a:r>
              <a:rPr lang="en-US" dirty="0" err="1" smtClean="0"/>
              <a:t>LangServe</a:t>
            </a:r>
            <a:r>
              <a:rPr lang="en-US" dirty="0" smtClean="0"/>
              <a:t> </a:t>
            </a:r>
            <a:r>
              <a:rPr lang="en-US" dirty="0"/>
              <a:t>is an important framework in the </a:t>
            </a:r>
            <a:r>
              <a:rPr lang="en-US" dirty="0" err="1"/>
              <a:t>LangChain</a:t>
            </a:r>
            <a:r>
              <a:rPr lang="en-US" dirty="0"/>
              <a:t> ecosystem that </a:t>
            </a:r>
            <a:r>
              <a:rPr lang="en-US" b="1" dirty="0"/>
              <a:t>allows developers to deploy </a:t>
            </a:r>
            <a:r>
              <a:rPr lang="en-US" b="1" dirty="0" err="1"/>
              <a:t>LangChain</a:t>
            </a:r>
            <a:r>
              <a:rPr lang="en-US" b="1" dirty="0"/>
              <a:t>-powered AI applications as APIs</a:t>
            </a:r>
            <a:r>
              <a:rPr lang="en-US" dirty="0"/>
              <a:t>. </a:t>
            </a:r>
            <a:endParaRPr lang="en-US" dirty="0" smtClean="0"/>
          </a:p>
          <a:p>
            <a:r>
              <a:rPr lang="en-US" dirty="0" smtClean="0"/>
              <a:t>It </a:t>
            </a:r>
            <a:r>
              <a:rPr lang="en-US" dirty="0"/>
              <a:t>simplifies the process of turning </a:t>
            </a:r>
            <a:r>
              <a:rPr lang="en-US" b="1" dirty="0"/>
              <a:t>AI pipelines into production-ready web services</a:t>
            </a:r>
            <a:r>
              <a:rPr lang="en-US" dirty="0"/>
              <a:t>, making it easy to integrate LLM-powered applications with external systems. </a:t>
            </a:r>
            <a:endParaRPr lang="en-US" dirty="0" smtClean="0"/>
          </a:p>
          <a:p>
            <a:r>
              <a:rPr lang="en-US" dirty="0" smtClean="0"/>
              <a:t>With </a:t>
            </a:r>
            <a:r>
              <a:rPr lang="en-US" b="1" dirty="0" err="1"/>
              <a:t>LangServe</a:t>
            </a:r>
            <a:r>
              <a:rPr lang="en-US" b="1" dirty="0"/>
              <a:t>, developers can expose their </a:t>
            </a:r>
            <a:r>
              <a:rPr lang="en-US" b="1" dirty="0" err="1"/>
              <a:t>LangChain</a:t>
            </a:r>
            <a:r>
              <a:rPr lang="en-US" b="1" dirty="0"/>
              <a:t> workflows via REST APIs, enabling interaction with front-end </a:t>
            </a:r>
            <a:r>
              <a:rPr lang="en-US" b="1" dirty="0" smtClean="0"/>
              <a:t>applications</a:t>
            </a:r>
            <a:r>
              <a:rPr lang="en-US" dirty="0" smtClean="0"/>
              <a:t>.</a:t>
            </a:r>
            <a:endParaRPr lang="en-US" dirty="0"/>
          </a:p>
        </p:txBody>
      </p:sp>
    </p:spTree>
    <p:extLst>
      <p:ext uri="{BB962C8B-B14F-4D97-AF65-F5344CB8AC3E}">
        <p14:creationId xmlns:p14="http://schemas.microsoft.com/office/powerpoint/2010/main" val="520653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err="1"/>
              <a:t>LangChain</a:t>
            </a:r>
            <a:r>
              <a:rPr lang="en-US" b="1" dirty="0"/>
              <a:t> &amp; LCEL Pipe </a:t>
            </a:r>
            <a:r>
              <a:rPr lang="en-US" b="1" dirty="0" smtClean="0"/>
              <a:t>Operator</a:t>
            </a:r>
          </a:p>
          <a:p>
            <a:r>
              <a:rPr lang="en-US" dirty="0" err="1" smtClean="0"/>
              <a:t>LangChain</a:t>
            </a:r>
            <a:r>
              <a:rPr lang="en-US" dirty="0" smtClean="0"/>
              <a:t> </a:t>
            </a:r>
            <a:r>
              <a:rPr lang="en-US" dirty="0"/>
              <a:t>is a framework designed to simplify the development of applications powered by large language models (LLMs), enabling seamless integration with external data sources, APIs, and memory for </a:t>
            </a:r>
            <a:r>
              <a:rPr lang="en-US" dirty="0" err="1"/>
              <a:t>stateful</a:t>
            </a:r>
            <a:r>
              <a:rPr lang="en-US" dirty="0"/>
              <a:t> interactions. </a:t>
            </a:r>
            <a:endParaRPr lang="en-US" dirty="0" smtClean="0"/>
          </a:p>
          <a:p>
            <a:r>
              <a:rPr lang="en-US" dirty="0" smtClean="0"/>
              <a:t>It </a:t>
            </a:r>
            <a:r>
              <a:rPr lang="en-US" dirty="0"/>
              <a:t>provides </a:t>
            </a:r>
            <a:r>
              <a:rPr lang="en-US" b="1" dirty="0"/>
              <a:t>modular components </a:t>
            </a:r>
            <a:r>
              <a:rPr lang="en-US" dirty="0"/>
              <a:t>for building retrieval-augmented generation (RAG) systems, autonomous agents, and AI-powered workflows. </a:t>
            </a:r>
            <a:endParaRPr lang="en-US" dirty="0" smtClean="0"/>
          </a:p>
          <a:p>
            <a:r>
              <a:rPr lang="en-US" dirty="0" smtClean="0"/>
              <a:t>One </a:t>
            </a:r>
            <a:r>
              <a:rPr lang="en-US" dirty="0"/>
              <a:t>powerful feature within </a:t>
            </a:r>
            <a:r>
              <a:rPr lang="en-US" b="1" dirty="0" err="1"/>
              <a:t>LangChain</a:t>
            </a:r>
            <a:r>
              <a:rPr lang="en-US" b="1" dirty="0"/>
              <a:t> Expression Language (LCEL) is the pipe (|) </a:t>
            </a:r>
            <a:r>
              <a:rPr lang="en-US" dirty="0"/>
              <a:t>operator, which allows for </a:t>
            </a:r>
            <a:r>
              <a:rPr lang="en-US" b="1" dirty="0"/>
              <a:t>chaining multiple components together in a clear, functional syntax</a:t>
            </a:r>
            <a:r>
              <a:rPr lang="en-US" dirty="0"/>
              <a:t>. </a:t>
            </a:r>
            <a:endParaRPr lang="en-US" dirty="0" smtClean="0"/>
          </a:p>
          <a:p>
            <a:r>
              <a:rPr lang="en-US" dirty="0" smtClean="0"/>
              <a:t>This </a:t>
            </a:r>
            <a:r>
              <a:rPr lang="en-US" dirty="0"/>
              <a:t>operator </a:t>
            </a:r>
            <a:r>
              <a:rPr lang="en-US" b="1" dirty="0"/>
              <a:t>enables sequential execution of LLM calls</a:t>
            </a:r>
            <a:r>
              <a:rPr lang="en-US" dirty="0"/>
              <a:t>, </a:t>
            </a:r>
            <a:r>
              <a:rPr lang="en-US" b="1" dirty="0"/>
              <a:t>transformations, and memory updates, making workflow design more intuitive and readable</a:t>
            </a:r>
            <a:r>
              <a:rPr lang="en-US" dirty="0"/>
              <a:t>. </a:t>
            </a:r>
            <a:endParaRPr lang="en-US" dirty="0" smtClean="0"/>
          </a:p>
          <a:p>
            <a:r>
              <a:rPr lang="en-US" dirty="0" smtClean="0"/>
              <a:t>For </a:t>
            </a:r>
            <a:r>
              <a:rPr lang="en-US" dirty="0"/>
              <a:t>example</a:t>
            </a:r>
            <a:r>
              <a:rPr lang="en-US" b="1" dirty="0"/>
              <a:t>, "User input" | </a:t>
            </a:r>
            <a:r>
              <a:rPr lang="en-US" b="1" dirty="0" err="1"/>
              <a:t>llm</a:t>
            </a:r>
            <a:r>
              <a:rPr lang="en-US" b="1" dirty="0"/>
              <a:t> | summarizer | </a:t>
            </a:r>
            <a:r>
              <a:rPr lang="en-US" b="1" dirty="0" err="1"/>
              <a:t>database_store</a:t>
            </a:r>
            <a:r>
              <a:rPr lang="en-US" dirty="0"/>
              <a:t> efficiently processes and stores AI-generated content in a single pipeline, improving maintainability and composability of AI workflows.</a:t>
            </a:r>
          </a:p>
        </p:txBody>
      </p:sp>
    </p:spTree>
    <p:extLst>
      <p:ext uri="{BB962C8B-B14F-4D97-AF65-F5344CB8AC3E}">
        <p14:creationId xmlns:p14="http://schemas.microsoft.com/office/powerpoint/2010/main" val="2331659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Practical Example – Data Base Querying Agent</a:t>
            </a:r>
            <a:endParaRPr lang="en-US" dirty="0"/>
          </a:p>
        </p:txBody>
      </p:sp>
      <p:sp>
        <p:nvSpPr>
          <p:cNvPr id="3" name="Content Placeholder 2"/>
          <p:cNvSpPr>
            <a:spLocks noGrp="1"/>
          </p:cNvSpPr>
          <p:nvPr>
            <p:ph idx="1"/>
          </p:nvPr>
        </p:nvSpPr>
        <p:spPr/>
        <p:txBody>
          <a:bodyPr>
            <a:normAutofit fontScale="92500" lnSpcReduction="10000"/>
          </a:bodyPr>
          <a:lstStyle/>
          <a:p>
            <a:r>
              <a:rPr lang="en-US" dirty="0">
                <a:hlinkClick r:id="rId2"/>
              </a:rPr>
              <a:t>https://python.langchain.com/docs/tutorials/sql_qa</a:t>
            </a:r>
            <a:r>
              <a:rPr lang="en-US" dirty="0" smtClean="0">
                <a:hlinkClick r:id="rId2"/>
              </a:rPr>
              <a:t>/</a:t>
            </a:r>
            <a:endParaRPr lang="en-US" dirty="0" smtClean="0"/>
          </a:p>
          <a:p>
            <a:r>
              <a:rPr lang="en-US" dirty="0" smtClean="0"/>
              <a:t>Some of the things that we will notice here:</a:t>
            </a:r>
          </a:p>
          <a:p>
            <a:r>
              <a:rPr lang="en-US" dirty="0" smtClean="0"/>
              <a:t>SQL with python</a:t>
            </a:r>
          </a:p>
          <a:p>
            <a:r>
              <a:rPr lang="en-US" dirty="0" err="1" smtClean="0"/>
              <a:t>Langraph</a:t>
            </a:r>
            <a:endParaRPr lang="en-US" dirty="0" smtClean="0"/>
          </a:p>
          <a:p>
            <a:r>
              <a:rPr lang="en-US" dirty="0" err="1" smtClean="0"/>
              <a:t>Langsmith</a:t>
            </a:r>
            <a:endParaRPr lang="en-US" dirty="0" smtClean="0"/>
          </a:p>
          <a:p>
            <a:r>
              <a:rPr lang="en-US" dirty="0" smtClean="0"/>
              <a:t>LCEL</a:t>
            </a:r>
          </a:p>
          <a:p>
            <a:r>
              <a:rPr lang="en-US" dirty="0" smtClean="0"/>
              <a:t>Agent</a:t>
            </a:r>
          </a:p>
          <a:p>
            <a:endParaRPr lang="en-US" dirty="0"/>
          </a:p>
          <a:p>
            <a:pPr marL="0" indent="0">
              <a:buNone/>
            </a:pPr>
            <a:r>
              <a:rPr lang="en-US" dirty="0" smtClean="0"/>
              <a:t>Another </a:t>
            </a:r>
            <a:r>
              <a:rPr lang="en-US" dirty="0"/>
              <a:t>practical example: </a:t>
            </a:r>
            <a:r>
              <a:rPr lang="en-US" dirty="0">
                <a:hlinkClick r:id="rId3"/>
              </a:rPr>
              <a:t>https://python.langchain.com/docs/how_to/sql_csv</a:t>
            </a:r>
            <a:r>
              <a:rPr lang="en-US" dirty="0" smtClean="0">
                <a:hlinkClick r:id="rId3"/>
              </a:rPr>
              <a:t>/</a:t>
            </a:r>
            <a:endParaRPr lang="en-US" dirty="0" smtClean="0"/>
          </a:p>
          <a:p>
            <a:pPr marL="0" indent="0">
              <a:buNone/>
            </a:pPr>
            <a:endParaRPr lang="en-US" dirty="0"/>
          </a:p>
        </p:txBody>
      </p:sp>
    </p:spTree>
    <p:extLst>
      <p:ext uri="{BB962C8B-B14F-4D97-AF65-F5344CB8AC3E}">
        <p14:creationId xmlns:p14="http://schemas.microsoft.com/office/powerpoint/2010/main" val="772789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1399</Words>
  <Application>Microsoft Office PowerPoint</Application>
  <PresentationFormat>Widescreen</PresentationFormat>
  <Paragraphs>74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Agentic AI</vt:lpstr>
      <vt:lpstr>Agentic AI</vt:lpstr>
      <vt:lpstr>Agentic AI and Generative AI</vt:lpstr>
      <vt:lpstr>Agentic AI and Generative AI</vt:lpstr>
      <vt:lpstr>AI Agents</vt:lpstr>
      <vt:lpstr>Types of AI Agents</vt:lpstr>
      <vt:lpstr>Types of AI Agents</vt:lpstr>
      <vt:lpstr>Agentic AI – Supplementary information</vt:lpstr>
      <vt:lpstr>Functions Calling</vt:lpstr>
      <vt:lpstr>Agents and Tools</vt:lpstr>
      <vt:lpstr>LangChain</vt:lpstr>
      <vt:lpstr>LangChain</vt:lpstr>
      <vt:lpstr>LangChain</vt:lpstr>
      <vt:lpstr>LangChain</vt:lpstr>
      <vt:lpstr>Practical Example – Data Base Querying Agent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dc:title>
  <dc:creator>Microsoft account</dc:creator>
  <cp:lastModifiedBy>Microsoft account</cp:lastModifiedBy>
  <cp:revision>4</cp:revision>
  <dcterms:created xsi:type="dcterms:W3CDTF">2025-11-19T19:17:54Z</dcterms:created>
  <dcterms:modified xsi:type="dcterms:W3CDTF">2025-11-19T20:02:45Z</dcterms:modified>
</cp:coreProperties>
</file>